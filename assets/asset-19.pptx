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A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0B2E44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B2E44"/>
                </a:solidFill>
                <a:latin typeface="Calibri" panose="020F0502020204030204"/>
              </a:rPr>
              <a:t>Efficiency loss from dust by region (%)</a:t>
            </a:r>
            <a:endParaRPr sz="1300" b="0" i="0" u="none" strike="noStrike">
              <a:solidFill>
                <a:srgbClr val="0B2E44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%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0262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Kuwait
(6 days)</c:v>
                </c:pt>
                <c:pt idx="1">
                  <c:v>Athens</c:v>
                </c:pt>
                <c:pt idx="2">
                  <c:v>Taxila
(mono.)</c:v>
                </c:pt>
                <c:pt idx="3">
                  <c:v>Riyadh</c:v>
                </c:pt>
                <c:pt idx="4">
                  <c:v>Bangladesh
(1 month)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6.5</c:v>
                </c:pt>
                <c:pt idx="2">
                  <c:v>20</c:v>
                </c:pt>
                <c:pt idx="3">
                  <c:v>32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1595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ADA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1595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c030007-ba2e-4c07-a9af-0f42dfce681b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0B2E44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B2E44"/>
                </a:solidFill>
                <a:latin typeface="Calibri" panose="020F0502020204030204"/>
              </a:rPr>
              <a:t>Panel power output across a year (Watts)</a:t>
            </a:r>
            <a:endParaRPr sz="1300" b="0" i="0" u="none" strike="noStrike">
              <a:solidFill>
                <a:srgbClr val="0B2E44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 (baseline)</c:v>
                </c:pt>
              </c:strCache>
            </c:strRef>
          </c:tx>
          <c:spPr>
            <a:ln w="31750" cap="flat" cmpd="sng" algn="ctr">
              <a:solidFill>
                <a:srgbClr val="14635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46356"/>
              </a:solidFill>
              <a:ln w="9525" cap="flat" cmpd="sng" algn="ctr">
                <a:solidFill>
                  <a:srgbClr val="14635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Oct</c:v>
                </c:pt>
                <c:pt idx="7">
                  <c:v>Dec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12.35</c:v>
                </c:pt>
                <c:pt idx="1">
                  <c:v>13.43</c:v>
                </c:pt>
                <c:pt idx="2">
                  <c:v>18.27</c:v>
                </c:pt>
                <c:pt idx="3">
                  <c:v>21.98</c:v>
                </c:pt>
                <c:pt idx="4">
                  <c:v>26.36</c:v>
                </c:pt>
                <c:pt idx="5">
                  <c:v>25.73</c:v>
                </c:pt>
                <c:pt idx="6">
                  <c:v>20.91</c:v>
                </c:pt>
                <c:pt idx="7">
                  <c:v>14.16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Dirty (uncleaned)</c:v>
                </c:pt>
              </c:strCache>
            </c:strRef>
          </c:tx>
          <c:spPr>
            <a:ln w="31750" cap="flat" cmpd="sng" algn="ctr">
              <a:solidFill>
                <a:srgbClr val="DADAD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ADAD6"/>
              </a:solidFill>
              <a:ln w="9525" cap="flat" cmpd="sng" algn="ctr">
                <a:solidFill>
                  <a:srgbClr val="DADAD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Oct</c:v>
                </c:pt>
                <c:pt idx="7">
                  <c:v>Dec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6.49</c:v>
                </c:pt>
                <c:pt idx="1">
                  <c:v>7.06</c:v>
                </c:pt>
                <c:pt idx="2">
                  <c:v>9.6</c:v>
                </c:pt>
                <c:pt idx="3">
                  <c:v>11.55</c:v>
                </c:pt>
                <c:pt idx="4">
                  <c:v>13.85</c:v>
                </c:pt>
                <c:pt idx="5">
                  <c:v>13.52</c:v>
                </c:pt>
                <c:pt idx="6">
                  <c:v>10.99</c:v>
                </c:pt>
                <c:pt idx="7">
                  <c:v>7.44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Cleaned by IoT system</c:v>
                </c:pt>
              </c:strCache>
            </c:strRef>
          </c:tx>
          <c:spPr>
            <a:ln w="31750" cap="flat" cmpd="sng" algn="ctr">
              <a:solidFill>
                <a:srgbClr val="E8622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622C"/>
              </a:solidFill>
              <a:ln w="9525" cap="flat" cmpd="sng" algn="ctr">
                <a:solidFill>
                  <a:srgbClr val="E8622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Oct</c:v>
                </c:pt>
                <c:pt idx="7">
                  <c:v>Dec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12.29</c:v>
                </c:pt>
                <c:pt idx="1">
                  <c:v>13.36</c:v>
                </c:pt>
                <c:pt idx="2">
                  <c:v>18.18</c:v>
                </c:pt>
                <c:pt idx="3">
                  <c:v>21.87</c:v>
                </c:pt>
                <c:pt idx="4">
                  <c:v>26.23</c:v>
                </c:pt>
                <c:pt idx="5">
                  <c:v>25.61</c:v>
                </c:pt>
                <c:pt idx="6">
                  <c:v>20.81</c:v>
                </c:pt>
                <c:pt idx="7">
                  <c:v>14.09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1595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ADA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1595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8506634-b6a9-404b-8b3f-18ba11857258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0B2E44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B2E44"/>
                </a:solidFill>
                <a:latin typeface="Calibri" panose="020F0502020204030204"/>
              </a:rPr>
              <a:t>Cleaning method comparison (1 = Low, 2 = Moderate, 3 = High)</a:t>
            </a:r>
            <a:endParaRPr sz="1300" b="0" i="0" u="none" strike="noStrike">
              <a:solidFill>
                <a:srgbClr val="0B2E44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0B2E4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Manual</c:v>
                </c:pt>
                <c:pt idx="1">
                  <c:v>Automatic</c:v>
                </c:pt>
                <c:pt idx="2">
                  <c:v>Electrostatic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4635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Manual</c:v>
                </c:pt>
                <c:pt idx="1">
                  <c:v>Automatic</c:v>
                </c:pt>
                <c:pt idx="2">
                  <c:v>Electrostatic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Output power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Manual</c:v>
                </c:pt>
                <c:pt idx="1">
                  <c:v>Automatic</c:v>
                </c:pt>
                <c:pt idx="2">
                  <c:v>Electrostatic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1595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bd33795-6c4b-422a-ab33-ae75e68afc52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0B2E44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B2E44"/>
                </a:solidFill>
                <a:latin typeface="Calibri" panose="020F0502020204030204"/>
              </a:rPr>
              <a:t>Team composition by discipline</a:t>
            </a:r>
            <a:endParaRPr sz="1300" b="0" i="0" u="none" strike="noStrike">
              <a:solidFill>
                <a:srgbClr val="0B2E44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Team 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8622C"/>
              </a:solidFill>
              <a:effectLst/>
            </c:spPr>
          </c:dPt>
          <c:dPt>
            <c:idx val="1"/>
            <c:bubble3D val="0"/>
            <c:spPr>
              <a:solidFill>
                <a:srgbClr val="146356"/>
              </a:solidFill>
              <a:effectLst/>
            </c:spPr>
          </c:dPt>
          <c:dPt>
            <c:idx val="2"/>
            <c:bubble3D val="0"/>
            <c:spPr>
              <a:solidFill>
                <a:srgbClr val="0B2E44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300" b="0" i="0" u="none" strike="noStrike" kern="1200" baseline="0">
                      <a:solidFill>
                        <a:srgbClr val="FFFFFF"/>
                      </a:solidFill>
                      <a:latin typeface="Calibri" panose="020F050202020403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300" b="0" i="0" u="none" strike="noStrike" kern="1200" baseline="0">
                      <a:solidFill>
                        <a:srgbClr val="FFFFFF"/>
                      </a:solidFill>
                      <a:latin typeface="Calibri" panose="020F050202020403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300" b="0" i="0" u="none" strike="noStrike" kern="1200" baseline="0">
                      <a:solidFill>
                        <a:srgbClr val="FFFFFF"/>
                      </a:solidFill>
                      <a:latin typeface="Calibri" panose="020F050202020403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Computer Science (3)</c:v>
                </c:pt>
                <c:pt idx="1">
                  <c:v>Mechatronics (1)</c:v>
                </c:pt>
                <c:pt idx="2">
                  <c:v>Electrical &amp; Electronics (1)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a9669c-40ca-43fd-87c8-337da9443542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5.png"/><Relationship Id="rId38" Type="http://schemas.openxmlformats.org/officeDocument/2006/relationships/notesSlide" Target="../notesSlides/notesSlide12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image" Target="../media/image18.png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3.xml"/><Relationship Id="rId29" Type="http://schemas.openxmlformats.org/officeDocument/2006/relationships/tags" Target="../tags/tag24.xml"/><Relationship Id="rId28" Type="http://schemas.openxmlformats.org/officeDocument/2006/relationships/image" Target="../media/image17.png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16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3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53F5C"/>
          </a:solidFill>
        </p:spPr>
      </p:sp>
      <p:sp>
        <p:nvSpPr>
          <p:cNvPr id="3" name="Shape 1"/>
          <p:cNvSpPr/>
          <p:nvPr/>
        </p:nvSpPr>
        <p:spPr>
          <a:xfrm>
            <a:off x="-1645920" y="4754880"/>
            <a:ext cx="3291840" cy="3291840"/>
          </a:xfrm>
          <a:prstGeom prst="ellipse">
            <a:avLst/>
          </a:prstGeom>
          <a:solidFill>
            <a:srgbClr val="153F5C"/>
          </a:solidFill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5A623"/>
          </a:solidFill>
        </p:spPr>
      </p:sp>
      <p:pic>
        <p:nvPicPr>
          <p:cNvPr id="5" name="Image 0" descr="/home/claude/icons/sun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81747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4980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MULTIDISCIPLINARY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5156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Solar Panel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Cleaning &amp; Cooling IoT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6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intelligent, self-optimizing solar energy system combining Mechatronics, Electrical Engineering, and Computer Science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53F5C"/>
          </a:solidFill>
        </p:spPr>
      </p:sp>
      <p:sp>
        <p:nvSpPr>
          <p:cNvPr id="10" name="Text 7"/>
          <p:cNvSpPr/>
          <p:nvPr/>
        </p:nvSpPr>
        <p:spPr>
          <a:xfrm>
            <a:off x="1097280" y="523036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5532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ALWIN THOMAS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</a:t>
            </a:r>
            <a:r>
              <a:rPr lang="en-IN" alt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BMH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80560" y="5532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RITHULAN V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</a:t>
            </a:r>
            <a:r>
              <a:rPr lang="en-IN" alt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63840" y="5532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KEERTHISHA S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CSE]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97280" y="59161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SALAH AMJAD ZINGU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CSE]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80560" y="59161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SHARMA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CSE]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5" name="Image 0" descr="/home/claude/icons/su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48" y="1828068"/>
            <a:ext cx="385511" cy="38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multidisciplinary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05740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solar underperforms, and why it matters globally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9" name="Image 1" descr="/home/claude/icons/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908" y="1828068"/>
            <a:ext cx="385511" cy="385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67335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Evidence from research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49440" y="205740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data on dust, heat, and cleaning gains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3" name="Image 2" descr="/home/claude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" y="3245388"/>
            <a:ext cx="385511" cy="3855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09067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47472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exactly we are solving, and why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315468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7" name="Image 3" descr="/home/claude/icons/puzz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908" y="3245388"/>
            <a:ext cx="385511" cy="3855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09067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&amp; expected outcomes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49440" y="347472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Boundaries of the project and its deliverables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21" name="Image 4" descr="/home/claude/icons/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48" y="4662708"/>
            <a:ext cx="385511" cy="38551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50799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489204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decision logic, and novelty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72200" y="4572000"/>
            <a:ext cx="566928" cy="566928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25" name="Image 5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908" y="4662708"/>
            <a:ext cx="385511" cy="38551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4507992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roles &amp; roadmap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949440" y="489204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does what, and the 9-month build plan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MULTIDISCIPLINARY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Solar energy is scaling fast — but panels waste much of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power is the fastest-growing renewable energy source worldwide, favored for its abundance, falling costs, and scalability. Arid, high-irradiance regions are best positioned to benefit — yet these are exactly the regions where dust and heat quietly erode panel performance.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554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374904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rise in global solar installations in 2023 over the previous year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544568"/>
            <a:ext cx="1554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GW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4590288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solar power installed worldwide in Q2 2023 alone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385816"/>
            <a:ext cx="1554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03120" y="5431536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MENA region has viable solar irradiance above 5 kWh/m²/day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1600200"/>
            <a:ext cx="4754880" cy="4572000"/>
          </a:xfrm>
          <a:prstGeom prst="roundRect">
            <a:avLst>
              <a:gd name="adj" fmla="val 2800"/>
            </a:avLst>
          </a:prstGeom>
          <a:solidFill>
            <a:srgbClr val="E3F1EE"/>
          </a:solidFill>
        </p:spPr>
      </p:sp>
      <p:sp>
        <p:nvSpPr>
          <p:cNvPr id="12" name="Shape 10"/>
          <p:cNvSpPr/>
          <p:nvPr/>
        </p:nvSpPr>
        <p:spPr>
          <a:xfrm>
            <a:off x="7269480" y="1874520"/>
            <a:ext cx="548640" cy="54864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3" name="Image 0" descr="/home/claude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262" y="1962302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55280" y="19202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matters everywhere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69480" y="2606040"/>
            <a:ext cx="4114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panels lose real, measurable output to dust and heat in almost every deployment — from rooftop installations to utility-scale farms. Fixing this is not a niche problem: it directly affects the economics and adoption of clean energy at global scale.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69480" y="4297680"/>
            <a:ext cx="411480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448056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gap our project addresses.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10360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Anber &amp; Aboshosha, Int. J. Low-Carbon Technologies,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FROM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Dust alone can cut solar output by up to 40%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937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studies from arid and semi-arid regions consistently show major, location-dependent power losses from dust accumulation — even over just days to weeks of exposure.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power/efficiency loss from dust, by location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Kuwait City (6 days)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33375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67912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Athens, Greece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3867912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98264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Taxila, Pakistan (mono.)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439826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928616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Riyadh, Saudi Arabia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4928616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589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Bangladesh (1 month)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5458968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35%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309360" y="1554480"/>
          <a:ext cx="5394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10360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literature synthesis in Anber &amp; Aboshosha, 2024 (Mani &amp; Pillai; Wakim; Rahman et al.; Kaldellis et al.; Ali et al.)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FROM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cleaning recovers nearly all lost power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2023 field experiment on a Cairo rooftop tracked the same panel type across a full year under three conditions: kept clean, left dirty, and restored by an IoT-controlled cleaning system. The cleaned panel tracked the clean baseline almost exactly.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560320"/>
          <a:ext cx="7680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2560320"/>
            <a:ext cx="3200400" cy="3657600"/>
          </a:xfrm>
          <a:prstGeom prst="roundRect">
            <a:avLst>
              <a:gd name="adj" fmla="val 4000"/>
            </a:avLst>
          </a:prstGeom>
          <a:solidFill>
            <a:srgbClr val="FCEAE0"/>
          </a:solidFill>
        </p:spPr>
      </p:sp>
      <p:sp>
        <p:nvSpPr>
          <p:cNvPr id="7" name="Text 4"/>
          <p:cNvSpPr/>
          <p:nvPr/>
        </p:nvSpPr>
        <p:spPr>
          <a:xfrm>
            <a:off x="8732520" y="27889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62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99.4%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732520" y="347472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original power output restored after cleaning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32520" y="4434840"/>
            <a:ext cx="2651760" cy="0"/>
          </a:xfrm>
          <a:prstGeom prst="line">
            <a:avLst/>
          </a:prstGeom>
          <a:noFill/>
          <a:ln w="12700">
            <a:solidFill>
              <a:srgbClr val="E862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4572000"/>
            <a:ext cx="26517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Dust build-up alone drove an 89.3% drop in cell power, a 40.3% drop in current, and an 11.8% drop in voltage before cleaning.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10360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Anber &amp; Aboshosha, Int. J. Low-Carbon Technologies, 2024 (Cairo case study, 2023)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FROM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Heat is the second silent efficiency killer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B2E44"/>
          </a:solidFill>
        </p:spPr>
      </p:sp>
      <p:pic>
        <p:nvPicPr>
          <p:cNvPr id="5" name="Image 0" descr="/home/claude/icons/thermo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1794053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5120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cells lose roughly 0.4-0.5% efficiency for every 1°C rise above 25°C. In hot climates, panels routinely run far hotter than that — and unlike dust, heat cannot simply be brushed away.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1206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2025 patented cooling approach (University of Sharjah) repurposes hot waste air already being expelled by building air-conditioning systems, redirecting it to actively cool the back surface of nearby solar panels — turning a waste stream into a cooling resource instead of adding new energy demand.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E3F1EE"/>
          </a:solidFill>
        </p:spPr>
      </p:sp>
      <p:sp>
        <p:nvSpPr>
          <p:cNvPr id="9" name="Text 6"/>
          <p:cNvSpPr/>
          <p:nvPr/>
        </p:nvSpPr>
        <p:spPr>
          <a:xfrm>
            <a:off x="6629400" y="192024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Waste-air cooling: measured result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9400" y="260604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surface temperature — before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29400" y="2907792"/>
            <a:ext cx="3951061" cy="384048"/>
          </a:xfrm>
          <a:prstGeom prst="roundRect">
            <a:avLst>
              <a:gd name="adj" fmla="val 9524"/>
            </a:avLst>
          </a:prstGeom>
          <a:solidFill>
            <a:srgbClr val="E8622C"/>
          </a:solidFill>
        </p:spPr>
      </p:sp>
      <p:sp>
        <p:nvSpPr>
          <p:cNvPr id="12" name="Text 9"/>
          <p:cNvSpPr/>
          <p:nvPr/>
        </p:nvSpPr>
        <p:spPr>
          <a:xfrm>
            <a:off x="10671901" y="2907792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56.36°C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352044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surface temperature — after waste-air cooling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29400" y="3822192"/>
            <a:ext cx="2685684" cy="384048"/>
          </a:xfrm>
          <a:prstGeom prst="roundRect">
            <a:avLst>
              <a:gd name="adj" fmla="val 9524"/>
            </a:avLst>
          </a:prstGeom>
          <a:solidFill>
            <a:srgbClr val="146356"/>
          </a:solidFill>
        </p:spPr>
      </p:sp>
      <p:sp>
        <p:nvSpPr>
          <p:cNvPr id="15" name="Text 12"/>
          <p:cNvSpPr/>
          <p:nvPr/>
        </p:nvSpPr>
        <p:spPr>
          <a:xfrm>
            <a:off x="9406524" y="3822192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38.31°C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29400" y="4526280"/>
            <a:ext cx="475488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46634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18.05°C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595360" y="470916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operating temperature, boosting power output and module efficiency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10360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US Patent 12,341,471 B2 (Univ. of Sharjah); EurekAlert!,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FROM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automated cleaning beats manual and electrostatic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886200" cy="4480560"/>
          </a:xfrm>
          <a:prstGeom prst="roundRect">
            <a:avLst>
              <a:gd name="adj" fmla="val 3294"/>
            </a:avLst>
          </a:prstGeom>
          <a:solidFill>
            <a:srgbClr val="F3F7F6"/>
          </a:solidFill>
        </p:spPr>
      </p:sp>
      <p:sp>
        <p:nvSpPr>
          <p:cNvPr id="6" name="Text 3"/>
          <p:cNvSpPr/>
          <p:nvPr/>
        </p:nvSpPr>
        <p:spPr>
          <a:xfrm>
            <a:off x="8092440" y="18745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design choice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92440" y="2423160"/>
            <a:ext cx="128016" cy="128016"/>
          </a:xfrm>
          <a:prstGeom prst="ellipse">
            <a:avLst/>
          </a:prstGeom>
          <a:solidFill>
            <a:srgbClr val="8A9299"/>
          </a:solidFill>
        </p:spPr>
      </p:sp>
      <p:sp>
        <p:nvSpPr>
          <p:cNvPr id="8" name="Text 5"/>
          <p:cNvSpPr/>
          <p:nvPr/>
        </p:nvSpPr>
        <p:spPr>
          <a:xfrm>
            <a:off x="8366760" y="228600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cleaning is low-cost but labor-heavy, slow, and risks scratching panels.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3566160"/>
            <a:ext cx="128016" cy="128016"/>
          </a:xfrm>
          <a:prstGeom prst="ellipse">
            <a:avLst/>
          </a:prstGeom>
          <a:solidFill>
            <a:srgbClr val="8A9299"/>
          </a:solidFill>
        </p:spPr>
      </p:sp>
      <p:sp>
        <p:nvSpPr>
          <p:cNvPr id="10" name="Text 7"/>
          <p:cNvSpPr/>
          <p:nvPr/>
        </p:nvSpPr>
        <p:spPr>
          <a:xfrm>
            <a:off x="8366760" y="342900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Electrostatic cleaning performs well but is too expensive for most installations, especially in developing regions.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4709160"/>
            <a:ext cx="128016" cy="128016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2" name="Text 9"/>
          <p:cNvSpPr/>
          <p:nvPr/>
        </p:nvSpPr>
        <p:spPr>
          <a:xfrm>
            <a:off x="8366760" y="457200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(IoT-driven) cleaning offers high efficiency and output power at moderate cost — the practical sweet spot our system builds 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10360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Aljaghoub et al., 2022, as cited in Anber &amp; Aboshosha,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MULTIDISCIPLINARY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problem, three disciplines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discipline can solve this alone. The problem spans physical mechanisms, electrical power management, and intelligent software — which is exactly why it is a multidisciplinary capstone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3F7F6"/>
          </a:solidFill>
        </p:spPr>
      </p:sp>
      <p:sp>
        <p:nvSpPr>
          <p:cNvPr id="6" name="Shape 4"/>
          <p:cNvSpPr/>
          <p:nvPr/>
        </p:nvSpPr>
        <p:spPr>
          <a:xfrm>
            <a:off x="1897380" y="2788920"/>
            <a:ext cx="822960" cy="82296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7" name="Image 0" descr="/home/claude/icons/cog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054" y="2920594"/>
            <a:ext cx="559613" cy="5596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840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Mechatronics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2880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the physical tracking mount and cleaning mechanism that actually move to fix the problem.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4231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3F7F6"/>
          </a:solidFill>
        </p:spPr>
      </p:sp>
      <p:sp>
        <p:nvSpPr>
          <p:cNvPr id="11" name="Shape 8"/>
          <p:cNvSpPr/>
          <p:nvPr/>
        </p:nvSpPr>
        <p:spPr>
          <a:xfrm>
            <a:off x="5737860" y="2788920"/>
            <a:ext cx="822960" cy="822960"/>
          </a:xfrm>
          <a:prstGeom prst="ellipse">
            <a:avLst/>
          </a:prstGeom>
          <a:solidFill>
            <a:srgbClr val="0B2E44"/>
          </a:solidFill>
        </p:spPr>
      </p:sp>
      <p:pic>
        <p:nvPicPr>
          <p:cNvPr id="12" name="Image 1" descr="/home/claude/icons/bo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34" y="292059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840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Electrical &amp; Electronics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389120"/>
            <a:ext cx="2880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power flow, MPPT circuitry, and the sensors and cooling electronics that measure and respond to conditions.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4231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3F7F6"/>
          </a:solidFill>
        </p:spPr>
      </p:sp>
      <p:sp>
        <p:nvSpPr>
          <p:cNvPr id="16" name="Shape 12"/>
          <p:cNvSpPr/>
          <p:nvPr/>
        </p:nvSpPr>
        <p:spPr>
          <a:xfrm>
            <a:off x="9578340" y="2788920"/>
            <a:ext cx="822960" cy="82296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7" name="Image 2" descr="/home/claude/icons/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014" y="2920594"/>
            <a:ext cx="559613" cy="5596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840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Computer Science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4389120"/>
            <a:ext cx="2880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the decision logic, AI diagnosis, and forecasting software that make the whole system intelligent and autonomous.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53F5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problem, precisely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206240"/>
          </a:xfrm>
          <a:prstGeom prst="roundRect">
            <a:avLst>
              <a:gd name="adj" fmla="val 3478"/>
            </a:avLst>
          </a:prstGeom>
          <a:solidFill>
            <a:srgbClr val="153F5C"/>
          </a:solidFill>
        </p:spPr>
      </p:sp>
      <p:sp>
        <p:nvSpPr>
          <p:cNvPr id="6" name="Text 4"/>
          <p:cNvSpPr/>
          <p:nvPr/>
        </p:nvSpPr>
        <p:spPr>
          <a:xfrm>
            <a:off x="1005840" y="2103120"/>
            <a:ext cx="10149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photovoltaic panels installed in hot, dust-prone regions lose a documented 6.5% to 40%+ of their power output due to dust accumulation, and additional efficiency to elevated operating temperature — yet most installations rely on infrequent manual cleaning and have no automated way to detect, prioritize, or respond to these losses in real time.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3931920"/>
            <a:ext cx="10149840" cy="0"/>
          </a:xfrm>
          <a:prstGeom prst="line">
            <a:avLst/>
          </a:prstGeom>
          <a:noFill/>
          <a:ln w="12700">
            <a:solidFill>
              <a:srgbClr val="3A65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60520"/>
            <a:ext cx="101498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a clear need for a self-monitoring, self-optimizing solar system that automatically cleans, cools, and repositions itself based on real sensor and forecast data — without relying on manual scheduling or guesswork.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5" name="Image 0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3677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and build an automated, self-cleaning solar panel unit driven by real-time dust and power sensors.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8" name="Image 1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7556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6872" y="163677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an active cooling mechanism that responds to panel temperature to recover thermal efficiency losses.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1" name="Image 2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50545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dual-axis solar tracking to keep the panel optimally angled toward the sun throughout the day.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4" name="Image 3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2624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76872" y="250545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an AI-based visual diagnosis model to distinguish dust, cracks, and hotspots from panel imagery.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17" name="Image 4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49300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337413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forecasting dashboard that predicts expected output and flags anomalies against real performance.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355080" y="3429000"/>
            <a:ext cx="457200" cy="4572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20" name="Image 5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349300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76872" y="3374136"/>
            <a:ext cx="4636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Quantify performance gains against a plain fixed panel and document results for publication and patent filing.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E3F1EE"/>
          </a:solidFill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6" name="Image 0" descr="/home/claude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19906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scope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One working prototype panel unit (tracking + cleaning + cooling)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172968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Dust and fault detection via camera and sensor data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739896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Output forecasting and a live monitoring dashboard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306824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Performance comparison vs. a fixed, unmanaged panel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873752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Research paper and draft patent claim on the decision layer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3F7F6"/>
          </a:solidFill>
        </p:spPr>
      </p:sp>
      <p:sp>
        <p:nvSpPr>
          <p:cNvPr id="14" name="Shape 11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8A9299"/>
          </a:solidFill>
        </p:spPr>
      </p:sp>
      <p:pic>
        <p:nvPicPr>
          <p:cNvPr id="15" name="Image 1" descr="/home/claude/icons/flag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49" y="1990649"/>
            <a:ext cx="362102" cy="3621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96596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159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37960" y="2606040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Multi-panel solar farm deployment or grid integration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3172968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Manufacturing at commercial scale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37960" y="3739896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Full patent prosecution and legal filing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4306824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Battery storage system design (may be a future extension)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37960" y="4873752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Weatherproof enclosure for extreme climates (e.g., monsoon flooding)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6" name="Image 0" descr="/home/claude/icons/robot_whit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7649" y="19906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77240" y="25146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Working prototype</a:t>
            </a:r>
            <a:endParaRPr lang="en-US" sz="145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77240" y="288036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physical panel unit that autonomously tracks, cleans, and cools itself.</a:t>
            </a:r>
            <a:endParaRPr lang="en-US" sz="115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389120" y="169164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1" name="Image 1" descr="/home/claude/icons/chip_white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88129" y="19906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4617720" y="25146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diagnosis model</a:t>
            </a:r>
            <a:endParaRPr lang="en-US" sz="145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4617720" y="288036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trained model that visually distinguishes dust, cracks, and hotspots.</a:t>
            </a:r>
            <a:endParaRPr lang="en-US" sz="115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8229600" y="169164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6" name="Image 2" descr="/home/claude/icons/chart_white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528609" y="19906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7"/>
            </p:custDataLst>
          </p:nvPr>
        </p:nvSpPr>
        <p:spPr>
          <a:xfrm>
            <a:off x="8458200" y="25146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Forecasting dashboard</a:t>
            </a:r>
            <a:endParaRPr lang="en-US" sz="1450" dirty="0"/>
          </a:p>
        </p:txBody>
      </p:sp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8458200" y="288036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monitoring with predicted vs. actual output and anomaly alerts.</a:t>
            </a:r>
            <a:endParaRPr lang="en-US" sz="1150" dirty="0"/>
          </a:p>
        </p:txBody>
      </p:sp>
      <p:sp>
        <p:nvSpPr>
          <p:cNvPr id="19" name="Shape 14"/>
          <p:cNvSpPr/>
          <p:nvPr>
            <p:custDataLst>
              <p:tags r:id="rId19"/>
            </p:custDataLst>
          </p:nvPr>
        </p:nvSpPr>
        <p:spPr>
          <a:xfrm>
            <a:off x="548640" y="384048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20" name="Shape 15"/>
          <p:cNvSpPr/>
          <p:nvPr>
            <p:custDataLst>
              <p:tags r:id="rId20"/>
            </p:custDataLst>
          </p:nvPr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21" name="Image 3" descr="/home/claude/icons/clipboard_whit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47649" y="4139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3"/>
            </p:custDataLst>
          </p:nvPr>
        </p:nvSpPr>
        <p:spPr>
          <a:xfrm>
            <a:off x="777240" y="466344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paper</a:t>
            </a:r>
            <a:endParaRPr lang="en-US" sz="1450" dirty="0"/>
          </a:p>
        </p:txBody>
      </p:sp>
      <p:sp>
        <p:nvSpPr>
          <p:cNvPr id="23" name="Text 17"/>
          <p:cNvSpPr/>
          <p:nvPr>
            <p:custDataLst>
              <p:tags r:id="rId24"/>
            </p:custDataLst>
          </p:nvPr>
        </p:nvSpPr>
        <p:spPr>
          <a:xfrm>
            <a:off x="777240" y="502920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documented, data-backed account of the design and measured results.</a:t>
            </a:r>
            <a:endParaRPr lang="en-US" sz="1150" dirty="0"/>
          </a:p>
        </p:txBody>
      </p:sp>
      <p:sp>
        <p:nvSpPr>
          <p:cNvPr id="24" name="Shape 18"/>
          <p:cNvSpPr/>
          <p:nvPr>
            <p:custDataLst>
              <p:tags r:id="rId25"/>
            </p:custDataLst>
          </p:nvPr>
        </p:nvSpPr>
        <p:spPr>
          <a:xfrm>
            <a:off x="4389120" y="384048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25" name="Shape 19"/>
          <p:cNvSpPr/>
          <p:nvPr>
            <p:custDataLst>
              <p:tags r:id="rId26"/>
            </p:custDataLst>
          </p:nvPr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26" name="Image 4" descr="/home/claude/icons/award_white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688129" y="413948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29"/>
            </p:custDataLst>
          </p:nvPr>
        </p:nvSpPr>
        <p:spPr>
          <a:xfrm>
            <a:off x="4617720" y="466344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Patent draft</a:t>
            </a:r>
            <a:endParaRPr lang="en-US" sz="1450" dirty="0"/>
          </a:p>
        </p:txBody>
      </p:sp>
      <p:sp>
        <p:nvSpPr>
          <p:cNvPr id="28" name="Text 21"/>
          <p:cNvSpPr/>
          <p:nvPr>
            <p:custDataLst>
              <p:tags r:id="rId30"/>
            </p:custDataLst>
          </p:nvPr>
        </p:nvSpPr>
        <p:spPr>
          <a:xfrm>
            <a:off x="4617720" y="502920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claim centered on the unified, multi-signal decision-making layer.</a:t>
            </a:r>
            <a:endParaRPr lang="en-US" sz="1150" dirty="0"/>
          </a:p>
        </p:txBody>
      </p:sp>
      <p:sp>
        <p:nvSpPr>
          <p:cNvPr id="29" name="Shape 22"/>
          <p:cNvSpPr/>
          <p:nvPr>
            <p:custDataLst>
              <p:tags r:id="rId31"/>
            </p:custDataLst>
          </p:nvPr>
        </p:nvSpPr>
        <p:spPr>
          <a:xfrm>
            <a:off x="8229600" y="384048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3F7F6"/>
          </a:solidFill>
        </p:spPr>
      </p:sp>
      <p:sp>
        <p:nvSpPr>
          <p:cNvPr id="30" name="Shape 23"/>
          <p:cNvSpPr/>
          <p:nvPr>
            <p:custDataLst>
              <p:tags r:id="rId32"/>
            </p:custDataLst>
          </p:nvPr>
        </p:nvSpPr>
        <p:spPr>
          <a:xfrm>
            <a:off x="8458200" y="406908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31" name="Image 5" descr="/home/claude/icons/leaf_white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528609" y="413948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>
            <p:custDataLst>
              <p:tags r:id="rId35"/>
            </p:custDataLst>
          </p:nvPr>
        </p:nvSpPr>
        <p:spPr>
          <a:xfrm>
            <a:off x="8458200" y="466344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Sustainability case</a:t>
            </a:r>
            <a:endParaRPr lang="en-US" sz="1450" dirty="0"/>
          </a:p>
        </p:txBody>
      </p:sp>
      <p:sp>
        <p:nvSpPr>
          <p:cNvPr id="33" name="Text 25"/>
          <p:cNvSpPr/>
          <p:nvPr>
            <p:custDataLst>
              <p:tags r:id="rId36"/>
            </p:custDataLst>
          </p:nvPr>
        </p:nvSpPr>
        <p:spPr>
          <a:xfrm>
            <a:off x="8458200" y="5029200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Quantified evidence of recovered energy output and reduced waste.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system thinks: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3F1EE"/>
          </a:solidFill>
        </p:spPr>
      </p:sp>
      <p:sp>
        <p:nvSpPr>
          <p:cNvPr id="5" name="Text 3"/>
          <p:cNvSpPr/>
          <p:nvPr/>
        </p:nvSpPr>
        <p:spPr>
          <a:xfrm>
            <a:off x="1005840" y="1801368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Sensors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Dust, heat, power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3F1EE"/>
          </a:solidFill>
        </p:spPr>
      </p:sp>
      <p:sp>
        <p:nvSpPr>
          <p:cNvPr id="8" name="Text 6"/>
          <p:cNvSpPr/>
          <p:nvPr/>
        </p:nvSpPr>
        <p:spPr>
          <a:xfrm>
            <a:off x="4526280" y="1801368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vision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Fault &amp; dust scan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3F1EE"/>
          </a:solidFill>
        </p:spPr>
      </p:sp>
      <p:sp>
        <p:nvSpPr>
          <p:cNvPr id="13" name="Shape 11"/>
          <p:cNvSpPr/>
          <p:nvPr/>
        </p:nvSpPr>
        <p:spPr>
          <a:xfrm>
            <a:off x="3991356" y="324612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0B2E44"/>
          </a:solidFill>
        </p:spPr>
      </p:sp>
      <p:sp>
        <p:nvSpPr>
          <p:cNvPr id="11" name="Text 9"/>
          <p:cNvSpPr/>
          <p:nvPr/>
        </p:nvSpPr>
        <p:spPr>
          <a:xfrm>
            <a:off x="8046720" y="1801368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A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Weather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19456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forecast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74236" y="333756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Decision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74236" y="375818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cool, or reposition?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85316" y="480060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CEAE0"/>
          </a:solidFill>
        </p:spPr>
      </p:sp>
      <p:sp>
        <p:nvSpPr>
          <p:cNvPr id="20" name="Shape 18"/>
          <p:cNvSpPr/>
          <p:nvPr/>
        </p:nvSpPr>
        <p:spPr>
          <a:xfrm>
            <a:off x="1613916" y="5093208"/>
            <a:ext cx="640080" cy="64008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21" name="Image 0" descr="/home/claude/icons/cog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329" y="5195621"/>
            <a:ext cx="435254" cy="435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391156" y="5001768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Actuators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391156" y="542239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Motors &amp; pumps execute the action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23076" y="480060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CEAE0"/>
          </a:solidFill>
        </p:spPr>
      </p:sp>
      <p:sp>
        <p:nvSpPr>
          <p:cNvPr id="25" name="Shape 22"/>
          <p:cNvSpPr/>
          <p:nvPr/>
        </p:nvSpPr>
        <p:spPr>
          <a:xfrm>
            <a:off x="6551676" y="5093208"/>
            <a:ext cx="640080" cy="64008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26" name="Image 1" descr="/home/claude/icons/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9" y="5195621"/>
            <a:ext cx="435254" cy="43525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28916" y="5001768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7328916" y="542239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monitoring &amp; alerts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966460" y="2651760"/>
            <a:ext cx="0" cy="59436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446020" y="2657475"/>
            <a:ext cx="3520440" cy="588645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966460" y="2651760"/>
            <a:ext cx="3557905" cy="59436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24" idx="0"/>
          </p:cNvCxnSpPr>
          <p:nvPr/>
        </p:nvCxnSpPr>
        <p:spPr>
          <a:xfrm>
            <a:off x="6094730" y="4206240"/>
            <a:ext cx="2468880" cy="5943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2"/>
            <a:endCxn id="19" idx="0"/>
          </p:cNvCxnSpPr>
          <p:nvPr/>
        </p:nvCxnSpPr>
        <p:spPr>
          <a:xfrm flipH="1">
            <a:off x="3625850" y="4206240"/>
            <a:ext cx="2468880" cy="5943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makes this novel (and patentable)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3F7F6"/>
          </a:solidFill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159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already exists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IoT-controlled cleaning systems (brush + microcontroller)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Water-circulation and waste-air cooling systems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48456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Camera/AI-based dust and fault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15384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MPPT and basic performance dashboards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exists separately, in its own paper or patent.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0B2E44"/>
          </a:solidFill>
        </p:spPr>
      </p:sp>
      <p:sp>
        <p:nvSpPr>
          <p:cNvPr id="12" name="Text 10"/>
          <p:cNvSpPr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add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846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single, unified decision-making layer that takes in sensor data, AI visual diagnosis, and output forecasting together — then decides in real time whether to clean, cool, or reposition the panel, and in what priority order.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4206240"/>
            <a:ext cx="4846320" cy="0"/>
          </a:xfrm>
          <a:prstGeom prst="line">
            <a:avLst/>
          </a:prstGeom>
          <a:noFill/>
          <a:ln w="12700">
            <a:solidFill>
              <a:srgbClr val="3A65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389120"/>
            <a:ext cx="4846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coordination logic — not any single sensor or actuator — is our claimed novelty.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five-person, three-discipline team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roster</a:t>
            </a:r>
            <a:endParaRPr lang="en-US" sz="17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6492240" y="228600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3F7F6"/>
          </a:solidFill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6675120" y="2459736"/>
            <a:ext cx="292608" cy="292608"/>
          </a:xfrm>
          <a:prstGeom prst="ellipse">
            <a:avLst/>
          </a:prstGeom>
          <a:solidFill>
            <a:srgbClr val="146356"/>
          </a:solidFill>
        </p:spPr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7086600" y="2359152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ALWIN THOMAS</a:t>
            </a: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8549640" y="2359152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Mechatronics</a:t>
            </a:r>
            <a:endParaRPr lang="en-US" sz="120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6492240" y="3131185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3F7F6"/>
          </a:solidFill>
        </p:spPr>
        <p:txBody>
          <a:bodyPr/>
          <a:p>
            <a:endParaRPr lang="en-GB" altLang="en-US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6675120" y="3236976"/>
            <a:ext cx="292608" cy="292608"/>
          </a:xfrm>
          <a:prstGeom prst="ellipse">
            <a:avLst/>
          </a:prstGeom>
          <a:solidFill>
            <a:srgbClr val="0B2E44"/>
          </a:solidFill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7086600" y="3136392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RITHULAN V</a:t>
            </a: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8549640" y="3136392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Electrical &amp; Electronics</a:t>
            </a:r>
            <a:endParaRPr lang="en-US" sz="1200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6492240" y="384048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3F7F6"/>
          </a:solidFill>
        </p:spPr>
      </p:sp>
      <p:sp>
        <p:nvSpPr>
          <p:cNvPr id="15" name="Shape 12"/>
          <p:cNvSpPr/>
          <p:nvPr>
            <p:custDataLst>
              <p:tags r:id="rId11"/>
            </p:custDataLst>
          </p:nvPr>
        </p:nvSpPr>
        <p:spPr>
          <a:xfrm>
            <a:off x="6675120" y="4014216"/>
            <a:ext cx="292608" cy="29260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7086600" y="3913632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SHARMA</a:t>
            </a: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8549640" y="3913632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— Firmware &amp; Logic</a:t>
            </a:r>
            <a:endParaRPr lang="en-US" sz="1200" dirty="0"/>
          </a:p>
        </p:txBody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6492240" y="461772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3F7F6"/>
          </a:solidFill>
        </p:spPr>
      </p:sp>
      <p:sp>
        <p:nvSpPr>
          <p:cNvPr id="19" name="Shape 16"/>
          <p:cNvSpPr/>
          <p:nvPr>
            <p:custDataLst>
              <p:tags r:id="rId15"/>
            </p:custDataLst>
          </p:nvPr>
        </p:nvSpPr>
        <p:spPr>
          <a:xfrm>
            <a:off x="6675120" y="4791456"/>
            <a:ext cx="292608" cy="29260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7086600" y="4690872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SALAH AMJAD ZINGU</a:t>
            </a: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21" name="Text 18"/>
          <p:cNvSpPr/>
          <p:nvPr>
            <p:custDataLst>
              <p:tags r:id="rId17"/>
            </p:custDataLst>
          </p:nvPr>
        </p:nvSpPr>
        <p:spPr>
          <a:xfrm>
            <a:off x="8549640" y="4690872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— AI Diagnosis</a:t>
            </a:r>
            <a:endParaRPr lang="en-US" sz="1200" dirty="0"/>
          </a:p>
        </p:txBody>
      </p:sp>
      <p:sp>
        <p:nvSpPr>
          <p:cNvPr id="22" name="Shape 19"/>
          <p:cNvSpPr/>
          <p:nvPr>
            <p:custDataLst>
              <p:tags r:id="rId18"/>
            </p:custDataLst>
          </p:nvPr>
        </p:nvSpPr>
        <p:spPr>
          <a:xfrm>
            <a:off x="6492240" y="539496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3F7F6"/>
          </a:solidFill>
        </p:spPr>
      </p:sp>
      <p:sp>
        <p:nvSpPr>
          <p:cNvPr id="23" name="Shape 20"/>
          <p:cNvSpPr/>
          <p:nvPr>
            <p:custDataLst>
              <p:tags r:id="rId19"/>
            </p:custDataLst>
          </p:nvPr>
        </p:nvSpPr>
        <p:spPr>
          <a:xfrm>
            <a:off x="6675120" y="5568696"/>
            <a:ext cx="292608" cy="29260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7086600" y="5468112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KEERTHISHA S</a:t>
            </a:r>
            <a:r>
              <a:rPr lang="en-US" sz="13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25" name="Text 22"/>
          <p:cNvSpPr/>
          <p:nvPr>
            <p:custDataLst>
              <p:tags r:id="rId21"/>
            </p:custDataLst>
          </p:nvPr>
        </p:nvSpPr>
        <p:spPr>
          <a:xfrm>
            <a:off x="8549640" y="5468112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— Dashboard &amp; Forecasting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Roles: Mechatronics &amp; Electrical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3265"/>
            </a:avLst>
          </a:prstGeom>
          <a:solidFill>
            <a:srgbClr val="F3F7F6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46356"/>
          </a:solidFill>
        </p:spPr>
      </p:sp>
      <p:pic>
        <p:nvPicPr>
          <p:cNvPr id="6" name="Image 0" descr="/home/claude/icons/cog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069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Mechatronics — "The Body Builder"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Dual-axis solar tracking mount (motors + frame)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639312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Servo-driven cleaning / wiper mechanism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352544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Physical mounting for the cooling system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065776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Overall mechanical assembly and integration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1691640"/>
            <a:ext cx="5440680" cy="4480560"/>
          </a:xfrm>
          <a:prstGeom prst="roundRect">
            <a:avLst>
              <a:gd name="adj" fmla="val 3265"/>
            </a:avLst>
          </a:prstGeom>
          <a:solidFill>
            <a:srgbClr val="F3F7F6"/>
          </a:solidFill>
        </p:spPr>
      </p:sp>
      <p:sp>
        <p:nvSpPr>
          <p:cNvPr id="13" name="Shape 10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0B2E44"/>
          </a:solidFill>
        </p:spPr>
      </p:sp>
      <p:pic>
        <p:nvPicPr>
          <p:cNvPr id="14" name="Image 1" descr="/home/claude/icons/bo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075688"/>
            <a:ext cx="466344" cy="4663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2011680"/>
            <a:ext cx="4069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Electrical &amp; Electronics — "The Power &amp; Circuits Person"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720840" y="2926080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MPPT (Maximum Power Point Tracking) circuit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20840" y="3639312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Sensor wiring: dust, temperature, voltage, current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720840" y="4352544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Cooling system electronics (pump / fan drivers)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20840" y="5065776"/>
            <a:ext cx="4800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Overall power management and safety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Roles: Computer Science (3 students)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4156"/>
            </a:avLst>
          </a:prstGeom>
          <a:solidFill>
            <a:srgbClr val="FCEAE0"/>
          </a:solidFill>
        </p:spPr>
      </p:sp>
      <p:sp>
        <p:nvSpPr>
          <p:cNvPr id="5" name="Shape 3"/>
          <p:cNvSpPr/>
          <p:nvPr/>
        </p:nvSpPr>
        <p:spPr>
          <a:xfrm>
            <a:off x="1943100" y="1965960"/>
            <a:ext cx="731520" cy="7315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6" name="Image 0" descr="/home/claude/icons/chi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0143" y="2083003"/>
            <a:ext cx="497434" cy="4974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54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Brain / Decision Maker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Microcontroller firmware reading all sensors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Core decision logic: clean vs. cool vs. reposition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12064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Sends actuator commands to the hardware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520440" cy="4480560"/>
          </a:xfrm>
          <a:prstGeom prst="roundRect">
            <a:avLst>
              <a:gd name="adj" fmla="val 4156"/>
            </a:avLst>
          </a:prstGeom>
          <a:solidFill>
            <a:srgbClr val="FCEAE0"/>
          </a:solidFill>
        </p:spPr>
      </p:sp>
      <p:sp>
        <p:nvSpPr>
          <p:cNvPr id="12" name="Shape 9"/>
          <p:cNvSpPr/>
          <p:nvPr/>
        </p:nvSpPr>
        <p:spPr>
          <a:xfrm>
            <a:off x="5783580" y="1965960"/>
            <a:ext cx="731520" cy="7315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3" name="Image 1" descr="/home/claude/icons/robo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23" y="2083003"/>
            <a:ext cx="497434" cy="4974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880360"/>
            <a:ext cx="3154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AI Diagnosis Person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63440" y="356616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Dataset collection &amp; labeling of panel images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63440" y="434340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CNN model for visual fault &amp; dust detection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63440" y="512064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Feeds alerts into the decision logic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520440" cy="4480560"/>
          </a:xfrm>
          <a:prstGeom prst="roundRect">
            <a:avLst>
              <a:gd name="adj" fmla="val 4156"/>
            </a:avLst>
          </a:prstGeom>
          <a:solidFill>
            <a:srgbClr val="FCEAE0"/>
          </a:solidFill>
        </p:spPr>
      </p:sp>
      <p:sp>
        <p:nvSpPr>
          <p:cNvPr id="19" name="Shape 15"/>
          <p:cNvSpPr/>
          <p:nvPr/>
        </p:nvSpPr>
        <p:spPr>
          <a:xfrm>
            <a:off x="9624060" y="1965960"/>
            <a:ext cx="731520" cy="73152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20" name="Image 2" descr="/home/claude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103" y="2083003"/>
            <a:ext cx="497434" cy="4974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880360"/>
            <a:ext cx="3154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Dashboard / Forecasting Person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503920" y="356616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Output forecasting from weather + history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503920" y="434340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Anomaly flagging: actual vs. predicted output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503920" y="5120640"/>
            <a:ext cx="3017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Live dashboard / app for monitoring &amp; alerts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five roles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365760" cy="365760"/>
          </a:xfrm>
          <a:prstGeom prst="ellipse">
            <a:avLst/>
          </a:prstGeom>
          <a:solidFill>
            <a:srgbClr val="0B2E44"/>
          </a:solidFill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EEE's sensors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raw data — dust, temperature, power output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130552"/>
            <a:ext cx="0" cy="310896"/>
          </a:xfrm>
          <a:prstGeom prst="line">
            <a:avLst/>
          </a:prstGeom>
          <a:noFill/>
          <a:ln w="19050">
            <a:solidFill>
              <a:srgbClr val="DADAD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9" name="Text 7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2's AI model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scans camera images to catch visual problems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0" cy="310896"/>
          </a:xfrm>
          <a:prstGeom prst="line">
            <a:avLst/>
          </a:prstGeom>
          <a:noFill/>
          <a:ln w="19050">
            <a:solidFill>
              <a:srgbClr val="DADAD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3" name="Text 11"/>
          <p:cNvSpPr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91256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3's forecast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whether actual output matches prediction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3630168"/>
            <a:ext cx="0" cy="310896"/>
          </a:xfrm>
          <a:prstGeom prst="line">
            <a:avLst/>
          </a:prstGeom>
          <a:noFill/>
          <a:ln w="19050">
            <a:solidFill>
              <a:srgbClr val="DADAD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4014216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7" name="Text 15"/>
          <p:cNvSpPr/>
          <p:nvPr/>
        </p:nvSpPr>
        <p:spPr>
          <a:xfrm>
            <a:off x="548640" y="401421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41064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1's decision logic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takes it all in and decides the action to take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379976"/>
            <a:ext cx="0" cy="310896"/>
          </a:xfrm>
          <a:prstGeom prst="line">
            <a:avLst/>
          </a:prstGeom>
          <a:noFill/>
          <a:ln w="19050">
            <a:solidFill>
              <a:srgbClr val="DADAD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146356"/>
          </a:solidFill>
        </p:spPr>
      </p:sp>
      <p:sp>
        <p:nvSpPr>
          <p:cNvPr id="21" name="Text 19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690872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Mechatronics' motors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physically execute: clean, cool, or reposition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31520" y="5129784"/>
            <a:ext cx="0" cy="310896"/>
          </a:xfrm>
          <a:prstGeom prst="line">
            <a:avLst/>
          </a:prstGeom>
          <a:noFill/>
          <a:ln w="19050">
            <a:solidFill>
              <a:srgbClr val="DADAD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513832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5" name="Text 23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44068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3's dashboard </a:t>
            </a:r>
            <a:r>
              <a:rPr lang="en-US" sz="145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everything happening in real time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9-month build plan,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25400">
            <a:solidFill>
              <a:srgbClr val="DADA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145536"/>
            <a:ext cx="292608" cy="292608"/>
          </a:xfrm>
          <a:prstGeom prst="ellipse">
            <a:avLst/>
          </a:prstGeom>
          <a:solidFill>
            <a:srgbClr val="0B2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402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7" name="Text 5"/>
          <p:cNvSpPr/>
          <p:nvPr/>
        </p:nvSpPr>
        <p:spPr>
          <a:xfrm>
            <a:off x="45720" y="22951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25877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&amp; Procurement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145536"/>
            <a:ext cx="292608" cy="292608"/>
          </a:xfrm>
          <a:prstGeom prst="ellipse">
            <a:avLst/>
          </a:prstGeom>
          <a:solidFill>
            <a:srgbClr val="1463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3611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11" name="Text 9"/>
          <p:cNvSpPr/>
          <p:nvPr/>
        </p:nvSpPr>
        <p:spPr>
          <a:xfrm>
            <a:off x="2112264" y="36667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3-4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12264" y="39593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Subsystem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01184" y="3145536"/>
            <a:ext cx="292608" cy="292608"/>
          </a:xfrm>
          <a:prstGeom prst="ellipse">
            <a:avLst/>
          </a:prstGeom>
          <a:solidFill>
            <a:srgbClr val="E862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088" y="22402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15" name="Text 13"/>
          <p:cNvSpPr/>
          <p:nvPr/>
        </p:nvSpPr>
        <p:spPr>
          <a:xfrm>
            <a:off x="4178808" y="22951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5-6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78808" y="25877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7728" y="3145536"/>
            <a:ext cx="292608" cy="292608"/>
          </a:xfrm>
          <a:prstGeom prst="ellipse">
            <a:avLst/>
          </a:prstGeom>
          <a:solidFill>
            <a:srgbClr val="1463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3611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19" name="Text 17"/>
          <p:cNvSpPr/>
          <p:nvPr/>
        </p:nvSpPr>
        <p:spPr>
          <a:xfrm>
            <a:off x="6245352" y="36667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39593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Full-System Testing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4272" y="3145536"/>
            <a:ext cx="292608" cy="292608"/>
          </a:xfrm>
          <a:prstGeom prst="ellipse">
            <a:avLst/>
          </a:prstGeom>
          <a:solidFill>
            <a:srgbClr val="0B2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22402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23" name="Text 21"/>
          <p:cNvSpPr/>
          <p:nvPr/>
        </p:nvSpPr>
        <p:spPr>
          <a:xfrm>
            <a:off x="8311896" y="22951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11896" y="25877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00816" y="3145536"/>
            <a:ext cx="292608" cy="292608"/>
          </a:xfrm>
          <a:prstGeom prst="ellipse">
            <a:avLst/>
          </a:prstGeom>
          <a:solidFill>
            <a:srgbClr val="E862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0" y="36118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3F7F6"/>
          </a:solidFill>
        </p:spPr>
      </p:sp>
      <p:sp>
        <p:nvSpPr>
          <p:cNvPr id="27" name="Text 25"/>
          <p:cNvSpPr/>
          <p:nvPr/>
        </p:nvSpPr>
        <p:spPr>
          <a:xfrm>
            <a:off x="10378440" y="3666744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78440" y="395935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Docs &amp; Demo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5212080"/>
            <a:ext cx="10332720" cy="1005840"/>
          </a:xfrm>
          <a:prstGeom prst="roundRect">
            <a:avLst>
              <a:gd name="adj" fmla="val 10909"/>
            </a:avLst>
          </a:prstGeom>
          <a:solidFill>
            <a:srgbClr val="E3F1EE"/>
          </a:solidFill>
        </p:spPr>
      </p:sp>
      <p:sp>
        <p:nvSpPr>
          <p:cNvPr id="30" name="Text 28"/>
          <p:cNvSpPr/>
          <p:nvPr/>
        </p:nvSpPr>
        <p:spPr>
          <a:xfrm>
            <a:off x="1188720" y="5349240"/>
            <a:ext cx="9784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4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 month-by-month breakdown with per-role tasks and milestones is available in the accompanying project plan document.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impact &amp; sustainability 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3F7F6"/>
          </a:solidFill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6" name="Image 0" descr="/home/claude/icons/bol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0080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 to ~40%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3063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recovery potential in dust-prone regions, based on documented field losses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3F7F6"/>
          </a:solidFill>
        </p:spPr>
      </p:sp>
      <p:sp>
        <p:nvSpPr>
          <p:cNvPr id="10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1" name="Image 1" descr="/home/claude/icons/therm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502" y="20080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18°C+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617720" y="3108960"/>
            <a:ext cx="3063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temperature reduction achievable through active cooling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3F7F6"/>
          </a:solidFill>
        </p:spPr>
      </p:sp>
      <p:sp>
        <p:nvSpPr>
          <p:cNvPr id="15" name="Shape 11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E8622C"/>
          </a:solidFill>
        </p:spPr>
      </p:sp>
      <p:pic>
        <p:nvPicPr>
          <p:cNvPr id="16" name="Image 2" descr="/home/claude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982" y="20080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606040"/>
            <a:ext cx="3063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Higher yield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458200" y="3108960"/>
            <a:ext cx="3063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panel means fewer panels needed for the same energy target — less material, less waste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0607040" cy="1920240"/>
          </a:xfrm>
          <a:prstGeom prst="roundRect">
            <a:avLst>
              <a:gd name="adj" fmla="val 6667"/>
            </a:avLst>
          </a:prstGeom>
          <a:solidFill>
            <a:srgbClr val="0B2E44"/>
          </a:solidFill>
        </p:spPr>
      </p:sp>
      <p:sp>
        <p:nvSpPr>
          <p:cNvPr id="20" name="Shape 15"/>
          <p:cNvSpPr/>
          <p:nvPr/>
        </p:nvSpPr>
        <p:spPr>
          <a:xfrm>
            <a:off x="868680" y="4526280"/>
            <a:ext cx="594360" cy="594360"/>
          </a:xfrm>
          <a:prstGeom prst="ellipse">
            <a:avLst/>
          </a:prstGeom>
          <a:solidFill>
            <a:srgbClr val="F5A623"/>
          </a:solidFill>
        </p:spPr>
      </p:sp>
      <p:pic>
        <p:nvPicPr>
          <p:cNvPr id="21" name="Image 3" descr="/home/claude/icons/leaf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6213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5262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Aligned with UN Sustainable Development Goals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45920" y="4937760"/>
            <a:ext cx="92354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6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SDG 7 (Affordable &amp; Clean Energy) — more usable energy from the same installed panels.   |   SDG 9 (Industry, Innovation &amp; Infrastructure) — a novel, patentable control system.   |   SDG 13 (Climate Action) — higher solar yield reduces reliance on fossil-fuel backup generation.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Presented by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2743200"/>
          </a:xfrm>
          <a:prstGeom prst="roundRect">
            <a:avLst>
              <a:gd name="adj" fmla="val 6512"/>
            </a:avLst>
          </a:prstGeom>
          <a:solidFill>
            <a:srgbClr val="F3F7F6"/>
          </a:solidFill>
        </p:spPr>
      </p:sp>
      <p:sp>
        <p:nvSpPr>
          <p:cNvPr id="5" name="Shape 3"/>
          <p:cNvSpPr/>
          <p:nvPr/>
        </p:nvSpPr>
        <p:spPr>
          <a:xfrm>
            <a:off x="1211580" y="2103120"/>
            <a:ext cx="640080" cy="640080"/>
          </a:xfrm>
          <a:prstGeom prst="ellipse">
            <a:avLst/>
          </a:prstGeom>
          <a:solidFill>
            <a:srgbClr val="146356"/>
          </a:solidFill>
        </p:spPr>
      </p:sp>
      <p:sp>
        <p:nvSpPr>
          <p:cNvPr id="7" name="Shape 4"/>
          <p:cNvSpPr/>
          <p:nvPr/>
        </p:nvSpPr>
        <p:spPr>
          <a:xfrm>
            <a:off x="777240" y="3429000"/>
            <a:ext cx="15087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520440"/>
            <a:ext cx="1691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ALWIN THOMAS</a:t>
            </a: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1691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Mechatronics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70632" y="1828800"/>
            <a:ext cx="1965960" cy="2743200"/>
          </a:xfrm>
          <a:prstGeom prst="roundRect">
            <a:avLst>
              <a:gd name="adj" fmla="val 6512"/>
            </a:avLst>
          </a:prstGeom>
          <a:solidFill>
            <a:srgbClr val="F3F7F6"/>
          </a:solidFill>
        </p:spPr>
      </p:sp>
      <p:sp>
        <p:nvSpPr>
          <p:cNvPr id="11" name="Shape 8"/>
          <p:cNvSpPr/>
          <p:nvPr/>
        </p:nvSpPr>
        <p:spPr>
          <a:xfrm>
            <a:off x="3433572" y="2103120"/>
            <a:ext cx="640080" cy="640080"/>
          </a:xfrm>
          <a:prstGeom prst="ellipse">
            <a:avLst/>
          </a:prstGeom>
          <a:solidFill>
            <a:srgbClr val="0B2E44"/>
          </a:solidFill>
        </p:spPr>
      </p:sp>
      <p:sp>
        <p:nvSpPr>
          <p:cNvPr id="13" name="Shape 9"/>
          <p:cNvSpPr/>
          <p:nvPr/>
        </p:nvSpPr>
        <p:spPr>
          <a:xfrm>
            <a:off x="2999232" y="3429000"/>
            <a:ext cx="15087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07792" y="3520440"/>
            <a:ext cx="1691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RITHULAN V</a:t>
            </a: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07792" y="3886200"/>
            <a:ext cx="1691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Electrical &amp; Electronics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92624" y="1828800"/>
            <a:ext cx="1965960" cy="2743200"/>
          </a:xfrm>
          <a:prstGeom prst="roundRect">
            <a:avLst>
              <a:gd name="adj" fmla="val 6512"/>
            </a:avLst>
          </a:prstGeom>
          <a:solidFill>
            <a:srgbClr val="F3F7F6"/>
          </a:solidFill>
        </p:spPr>
      </p:sp>
      <p:sp>
        <p:nvSpPr>
          <p:cNvPr id="17" name="Shape 13"/>
          <p:cNvSpPr/>
          <p:nvPr/>
        </p:nvSpPr>
        <p:spPr>
          <a:xfrm>
            <a:off x="5655564" y="2103120"/>
            <a:ext cx="640080" cy="64008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9" name="Shape 14"/>
          <p:cNvSpPr/>
          <p:nvPr/>
        </p:nvSpPr>
        <p:spPr>
          <a:xfrm>
            <a:off x="5221224" y="3429000"/>
            <a:ext cx="15087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129784" y="3520440"/>
            <a:ext cx="1691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SHARMA</a:t>
            </a: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129784" y="3886200"/>
            <a:ext cx="1691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214616" y="1828800"/>
            <a:ext cx="1965960" cy="2743200"/>
          </a:xfrm>
          <a:prstGeom prst="roundRect">
            <a:avLst>
              <a:gd name="adj" fmla="val 6512"/>
            </a:avLst>
          </a:prstGeom>
          <a:solidFill>
            <a:srgbClr val="F3F7F6"/>
          </a:solidFill>
        </p:spPr>
      </p:sp>
      <p:sp>
        <p:nvSpPr>
          <p:cNvPr id="23" name="Shape 18"/>
          <p:cNvSpPr/>
          <p:nvPr/>
        </p:nvSpPr>
        <p:spPr>
          <a:xfrm>
            <a:off x="7877556" y="2103120"/>
            <a:ext cx="640080" cy="64008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5" name="Shape 19"/>
          <p:cNvSpPr/>
          <p:nvPr/>
        </p:nvSpPr>
        <p:spPr>
          <a:xfrm>
            <a:off x="7443216" y="3429000"/>
            <a:ext cx="15087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51776" y="3520440"/>
            <a:ext cx="1691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KEERTHISHA S</a:t>
            </a: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351776" y="3886200"/>
            <a:ext cx="1691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436608" y="1828800"/>
            <a:ext cx="1965960" cy="2743200"/>
          </a:xfrm>
          <a:prstGeom prst="roundRect">
            <a:avLst>
              <a:gd name="adj" fmla="val 6512"/>
            </a:avLst>
          </a:prstGeom>
          <a:solidFill>
            <a:srgbClr val="F3F7F6"/>
          </a:solidFill>
        </p:spPr>
      </p:sp>
      <p:sp>
        <p:nvSpPr>
          <p:cNvPr id="29" name="Shape 23"/>
          <p:cNvSpPr/>
          <p:nvPr/>
        </p:nvSpPr>
        <p:spPr>
          <a:xfrm>
            <a:off x="10099548" y="2103120"/>
            <a:ext cx="640080" cy="64008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31" name="Shape 24"/>
          <p:cNvSpPr/>
          <p:nvPr/>
        </p:nvSpPr>
        <p:spPr>
          <a:xfrm>
            <a:off x="9665208" y="3429000"/>
            <a:ext cx="15087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573768" y="3520440"/>
            <a:ext cx="1691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SALAH AMJAD ZINGU</a:t>
            </a:r>
            <a:r>
              <a:rPr lang="en-US" sz="1150" b="1" dirty="0">
                <a:solidFill>
                  <a:srgbClr val="0B2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573768" y="3886200"/>
            <a:ext cx="1691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159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484632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E3F1EE"/>
          </a:solidFill>
        </p:spPr>
      </p:sp>
      <p:sp>
        <p:nvSpPr>
          <p:cNvPr id="35" name="Text 28"/>
          <p:cNvSpPr/>
          <p:nvPr/>
        </p:nvSpPr>
        <p:spPr>
          <a:xfrm>
            <a:off x="868680" y="50292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Guide / Mentor: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566160" y="50292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GB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S Sivakumar</a:t>
            </a: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68680" y="54864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566160" y="5486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SENSE</a:t>
            </a:r>
            <a:r>
              <a:rPr lang="en-US" sz="1300" dirty="0">
                <a:solidFill>
                  <a:srgbClr val="20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pic>
        <p:nvPicPr>
          <p:cNvPr id="40" name="Image 0" descr="/home/claude/icons/sun_navy.png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tretch>
            <a:fillRect/>
          </a:stretch>
        </p:blipFill>
        <p:spPr>
          <a:xfrm>
            <a:off x="1287145" y="2178050"/>
            <a:ext cx="485140" cy="485140"/>
          </a:xfrm>
          <a:prstGeom prst="rect">
            <a:avLst/>
          </a:prstGeom>
          <a:ln>
            <a:noFill/>
          </a:ln>
        </p:spPr>
      </p:pic>
      <p:pic>
        <p:nvPicPr>
          <p:cNvPr id="41" name="Image 0" descr="/home/claude/icons/sun_navy.png"/>
          <p:cNvPicPr>
            <a:picLocks noChangeAspect="1"/>
          </p:cNvPicPr>
          <p:nvPr/>
        </p:nvPicPr>
        <p:blipFill>
          <a:blip r:embed="rId1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10915" y="2183765"/>
            <a:ext cx="485140" cy="485140"/>
          </a:xfrm>
          <a:prstGeom prst="rect">
            <a:avLst/>
          </a:prstGeom>
          <a:ln>
            <a:noFill/>
          </a:ln>
        </p:spPr>
      </p:pic>
      <p:pic>
        <p:nvPicPr>
          <p:cNvPr id="42" name="Image 0" descr="/home/claude/icons/sun_navy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25160" y="2172335"/>
            <a:ext cx="485140" cy="485140"/>
          </a:xfrm>
          <a:prstGeom prst="rect">
            <a:avLst/>
          </a:prstGeom>
          <a:ln>
            <a:noFill/>
          </a:ln>
        </p:spPr>
      </p:pic>
      <p:pic>
        <p:nvPicPr>
          <p:cNvPr id="43" name="Image 0" descr="/home/claude/icons/sun_navy.png"/>
          <p:cNvPicPr>
            <a:picLocks noChangeAspect="1"/>
          </p:cNvPicPr>
          <p:nvPr/>
        </p:nvPicPr>
        <p:blipFill>
          <a:blip r:embed="rId1">
            <a:biLevel thresh="50000"/>
          </a:blip>
          <a:stretch>
            <a:fillRect/>
          </a:stretch>
        </p:blipFill>
        <p:spPr>
          <a:xfrm>
            <a:off x="7956550" y="2172335"/>
            <a:ext cx="485140" cy="485140"/>
          </a:xfrm>
          <a:prstGeom prst="rect">
            <a:avLst/>
          </a:prstGeom>
          <a:ln>
            <a:noFill/>
          </a:ln>
        </p:spPr>
      </p:pic>
      <p:pic>
        <p:nvPicPr>
          <p:cNvPr id="44" name="Image 0" descr="/home/claude/icons/sun_navy.png"/>
          <p:cNvPicPr>
            <a:picLocks noChangeAspect="1"/>
          </p:cNvPicPr>
          <p:nvPr/>
        </p:nvPicPr>
        <p:blipFill>
          <a:blip r:embed="rId1">
            <a:biLevel thresh="25000"/>
          </a:blip>
          <a:stretch>
            <a:fillRect/>
          </a:stretch>
        </p:blipFill>
        <p:spPr>
          <a:xfrm>
            <a:off x="10187940" y="2183765"/>
            <a:ext cx="485140" cy="4851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153F5C"/>
          </a:solidFill>
        </p:spPr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153F5C"/>
          </a:solidFill>
        </p:spPr>
      </p:sp>
      <p:sp>
        <p:nvSpPr>
          <p:cNvPr id="4" name="Shape 2"/>
          <p:cNvSpPr/>
          <p:nvPr/>
        </p:nvSpPr>
        <p:spPr>
          <a:xfrm>
            <a:off x="5637276" y="1920240"/>
            <a:ext cx="914400" cy="914400"/>
          </a:xfrm>
          <a:prstGeom prst="ellipse">
            <a:avLst/>
          </a:prstGeom>
          <a:solidFill>
            <a:srgbClr val="F5A623"/>
          </a:solidFill>
        </p:spPr>
      </p:sp>
      <p:pic>
        <p:nvPicPr>
          <p:cNvPr id="5" name="Image 0" descr="/home/claude/icons/sun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580" y="206654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6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200" dirty="0">
                <a:solidFill>
                  <a:srgbClr val="8FA6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541</a:t>
            </a:r>
            <a:r>
              <a:rPr lang="en-US" sz="1200" dirty="0">
                <a:solidFill>
                  <a:srgbClr val="8FA6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] · [</a:t>
            </a:r>
            <a:r>
              <a:rPr lang="en-IN" altLang="en-US" sz="1200" dirty="0">
                <a:solidFill>
                  <a:srgbClr val="8FA6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09 / 2026</a:t>
            </a:r>
            <a:r>
              <a:rPr lang="en-US" sz="1200" dirty="0">
                <a:solidFill>
                  <a:srgbClr val="8FA6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IN" altLang="en-US" sz="1200" dirty="0">
              <a:solidFill>
                <a:srgbClr val="8FA6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3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4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5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6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7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8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9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0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1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2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3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4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5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6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7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8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19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0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1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2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3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4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5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6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7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8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29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30.xml><?xml version="1.0" encoding="utf-8"?>
<p:tagLst xmlns:p="http://schemas.openxmlformats.org/presentationml/2006/main">
  <p:tag name="KSO_WM_DIAGRAM_VIRTUALLY_FRAME" val="{&quot;height&quot;:320.4,&quot;left&quot;:43.2,&quot;top&quot;:133.2,&quot;width&quot;:882}"/>
</p:tagLst>
</file>

<file path=ppt/tags/tag31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2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3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4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5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6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7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8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39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0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1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2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3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4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5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6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7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8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49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ags/tag50.xml><?xml version="1.0" encoding="utf-8"?>
<p:tagLst xmlns:p="http://schemas.openxmlformats.org/presentationml/2006/main">
  <p:tag name="KSO_WM_DIAGRAM_VIRTUALLY_FRAME" val="{&quot;height&quot;:295.2,&quot;left&quot;:511.2,&quot;top&quot;:180,&quot;width&quot;:40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11141</Words>
  <Application>WPS Presentation</Application>
  <PresentationFormat>On-screen Show (16:9)</PresentationFormat>
  <Paragraphs>539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ALWIN THOMAS</cp:lastModifiedBy>
  <cp:revision>2</cp:revision>
  <dcterms:created xsi:type="dcterms:W3CDTF">2026-09-12T17:10:00Z</dcterms:created>
  <dcterms:modified xsi:type="dcterms:W3CDTF">2026-09-12T17:51:51Z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5F2B1593363F490FA149FBBE721D2EEA_12</vt:lpwstr>
  </property>
  <property fmtid="{D5CDD505-2E9C-101B-9397-08002B2CF9AE}" pid="3" name="KSOProductBuildVer">
    <vt:lpwstr>2057-12.2.0.23206</vt:lpwstr>
  </property>
</Properties>
</file>